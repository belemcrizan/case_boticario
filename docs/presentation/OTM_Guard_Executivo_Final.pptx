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40585e63de4ce7" /><Relationship Type="http://schemas.openxmlformats.org/officeDocument/2006/relationships/extended-properties" Target="/docProps/app.xml" Id="R54d5f6750d4c4b72" /><Relationship Type="http://schemas.openxmlformats.org/officeDocument/2006/relationships/officeDocument" Target="/ppt/presentation.xml" Id="Rde9d7b46c58a44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45f1721bb343d0"/>
  </p:sldMasterIdLst>
  <p:notesMasterIdLst>
    <p:notesMasterId xmlns:r="http://schemas.openxmlformats.org/officeDocument/2006/relationships" r:id="Rf17c216fed604013"/>
  </p:notesMasterIdLst>
  <p:sldIdLst>
    <p:sldId xmlns:r="http://schemas.openxmlformats.org/officeDocument/2006/relationships" id="256" r:id="R8b749854ca374cba"/>
    <p:sldId xmlns:r="http://schemas.openxmlformats.org/officeDocument/2006/relationships" id="257" r:id="Rada9613fb4674dec"/>
    <p:sldId xmlns:r="http://schemas.openxmlformats.org/officeDocument/2006/relationships" id="258" r:id="Rcd571d3b0a9f4d9d"/>
    <p:sldId xmlns:r="http://schemas.openxmlformats.org/officeDocument/2006/relationships" id="259" r:id="Ra3b726e4726441e9"/>
    <p:sldId xmlns:r="http://schemas.openxmlformats.org/officeDocument/2006/relationships" id="260" r:id="Rf2e450cd78ce4597"/>
    <p:sldId xmlns:r="http://schemas.openxmlformats.org/officeDocument/2006/relationships" id="261" r:id="R4416a161bd764795"/>
    <p:sldId xmlns:r="http://schemas.openxmlformats.org/officeDocument/2006/relationships" id="262" r:id="R8bafb82b507743b0"/>
    <p:sldId xmlns:r="http://schemas.openxmlformats.org/officeDocument/2006/relationships" id="263" r:id="R8d01a441007548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ad6e32a3044d28" /><Relationship Type="http://schemas.openxmlformats.org/officeDocument/2006/relationships/slideMaster" Target="/ppt/slideMasters/slideMaster1.xml" Id="Rc245f1721bb343d0" /><Relationship Type="http://schemas.openxmlformats.org/officeDocument/2006/relationships/notesMaster" Target="/ppt/notesMasters/notesMaster1.xml" Id="Rf17c216fed604013" /><Relationship Type="http://schemas.openxmlformats.org/officeDocument/2006/relationships/presProps" Target="/ppt/presProps.xml" Id="Rb72238b4c219469a" /><Relationship Type="http://schemas.openxmlformats.org/officeDocument/2006/relationships/tableStyles" Target="/ppt/tableStyles.xml" Id="R1d24928cffcc4dd3" /><Relationship Type="http://schemas.openxmlformats.org/officeDocument/2006/relationships/slide" Target="/ppt/slides/slide1.xml" Id="R8b749854ca374cba" /><Relationship Type="http://schemas.openxmlformats.org/officeDocument/2006/relationships/slide" Target="/ppt/slides/slide2.xml" Id="Rada9613fb4674dec" /><Relationship Type="http://schemas.openxmlformats.org/officeDocument/2006/relationships/slide" Target="/ppt/slides/slide3.xml" Id="Rcd571d3b0a9f4d9d" /><Relationship Type="http://schemas.openxmlformats.org/officeDocument/2006/relationships/slide" Target="/ppt/slides/slide4.xml" Id="Ra3b726e4726441e9" /><Relationship Type="http://schemas.openxmlformats.org/officeDocument/2006/relationships/slide" Target="/ppt/slides/slide5.xml" Id="Rf2e450cd78ce4597" /><Relationship Type="http://schemas.openxmlformats.org/officeDocument/2006/relationships/slide" Target="/ppt/slides/slide6.xml" Id="R4416a161bd764795" /><Relationship Type="http://schemas.openxmlformats.org/officeDocument/2006/relationships/slide" Target="/ppt/slides/slide7.xml" Id="R8bafb82b507743b0" /><Relationship Type="http://schemas.openxmlformats.org/officeDocument/2006/relationships/slide" Target="/ppt/slides/slide8.xml" Id="R8d01a441007548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6d30ea186142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OTM Guard">
      <a:dk1>
        <a:srgbClr val="000000"/>
      </a:dk1>
      <a:lt1>
        <a:srgbClr val="FFFFFF"/>
      </a:lt1>
      <a:dk2>
        <a:srgbClr val="173D35"/>
      </a:dk2>
      <a:lt2>
        <a:srgbClr val="F5F6F3"/>
      </a:lt2>
      <a:accent1>
        <a:srgbClr val="173D35"/>
      </a:accent1>
      <a:accent2>
        <a:srgbClr val="437F65"/>
      </a:accent2>
      <a:accent3>
        <a:srgbClr val="D8EAB3"/>
      </a:accent3>
      <a:accent4>
        <a:srgbClr val="7390A4"/>
      </a:accent4>
      <a:accent5>
        <a:srgbClr val="8E642B"/>
      </a:accent5>
      <a:accent6>
        <a:srgbClr val="A8BCA0"/>
      </a:accent6>
      <a:hlink>
        <a:srgbClr val="437F65"/>
      </a:hlink>
      <a:folHlink>
        <a:srgbClr val="437F65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TM Guar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acf90630b74b9c" /><Relationship Type="http://schemas.openxmlformats.org/officeDocument/2006/relationships/notesMaster" Target="/ppt/notesMasters/notesMaster1.xml" Id="R973838ec49d64b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f73efa60d94990" /><Relationship Type="http://schemas.openxmlformats.org/officeDocument/2006/relationships/notesMaster" Target="/ppt/notesMasters/notesMaster1.xml" Id="R15ed989be07b44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0f3d1d2a4c4c3d" /><Relationship Type="http://schemas.openxmlformats.org/officeDocument/2006/relationships/notesMaster" Target="/ppt/notesMasters/notesMaster1.xml" Id="R6d8253bcf5ae46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f9e2ef63404921" /><Relationship Type="http://schemas.openxmlformats.org/officeDocument/2006/relationships/notesMaster" Target="/ppt/notesMasters/notesMaster1.xml" Id="Rdb13528b40104e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5b06c5743641e6" /><Relationship Type="http://schemas.openxmlformats.org/officeDocument/2006/relationships/notesMaster" Target="/ppt/notesMasters/notesMaster1.xml" Id="R5d0f3849061441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8b32935a5546a4" /><Relationship Type="http://schemas.openxmlformats.org/officeDocument/2006/relationships/notesMaster" Target="/ppt/notesMasters/notesMaster1.xml" Id="R64972a28df7147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ad16c6749a4578" /><Relationship Type="http://schemas.openxmlformats.org/officeDocument/2006/relationships/notesMaster" Target="/ppt/notesMasters/notesMaster1.xml" Id="R15c871d2d3454c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6716d51a024ed5" /><Relationship Type="http://schemas.openxmlformats.org/officeDocument/2006/relationships/notesMaster" Target="/ppt/notesMasters/notesMaster1.xml" Id="Rd0e3fd0f7a3943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0:00–0:35. O problema é adequar o rateio do OTM aos kits e embalagens reais, preservando o core. A aplicação produz propostas para conferência. Não reserva estoque, não aprova faturamento e não é produto oficial. Fonte: docs/EXECUTIVE_BRIEF.md e enunciado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0:35–1:20. Fonte: cinco CSVs em data/input e examples/strict/resumo.json, examples/complete-kits/resumo.json. 12 POIs, demanda455, OTM297; strict199 e alternativa269. Ambas passam dez invariantes. Retenção 199/297=67,0%;269/297=90,6%. Não há ganho financeiro medido.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1:20–2:10. Fonte real: POI-1007, pedido120, OTM110, caixa6, saldo150. A maior quantidade válida é floor(110/6)*6=108,18caixas. Exemplo de combo real: 5aparelhos e7cargas geram3kits1:2 →3:6. Screenshot real CI40901236484, recorte do painel de decisão. Explicações são determinísticas, sem LLM.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2:10–2:55. Demonstração: visão geral, buscaSKU-D2, filaSKU-GHOST, importação e auditoria. Dados reais do case. Captura da aplicação via Playwright CI40901236484. Personas alteram leitura e acesso; autorização é no servidor. Tema escuro e móvel testados separadamente. Fonte: docs/GUIA_INTERFACE.md.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2:55–3:40. Fonte: infra/modules/platform e docs/ARQUITETURA_GCP.md. Diagrama de arquitetura proposta. IAP JWT, identidades servidor, API e UI mesmaorigem, Jobs com claim/fencing, SQLIAM e GCSprecondição. Terraform validate em CI não prova grants, OAuth, rede, recuperação nem capacidade real. Não ocorreu deploy. Sem integraçãoOMS/WMS.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3:40–4:30. Fonte: docs/benchmark_e2e_observado.json, scripts/benchmark_e2e.py, docs/EVIDENCIAS.md. Sintético local, uma rodada/volume, profiler no motor, RSS do processo. Total inclui CSV, cálculo, verificação, publicação, SQLite, primeira página; exclui geração da massa, rede/GCP/HTTPusuários. 1M=152.30945s;1456.527MiB. Não estabelece SLA. Regressão CLI preservada; motor com 100% de cobertura. Testes na CI.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4:30–5:20. Riscos principais explicitados em docs/MODELO_AMEACAS.md, docs/POLITICAS_COMERCIAIS.md, docs/OPERACAO_ENTERPRISE.md. Foto semdata, instâncias de combo ausentes, políticaambígua, semreservatransacional. Demo e CI não são produção. Critérios devem ser assinados por responsáveis.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5:20–6:10. Concluir: decisão para próximo passo é piloto em sombra, após regras e dados explícitos. Medir minutos por milPOIs, intervenção, divergência, ciclo e custo. Não tratar unidadesreduzidascomoROI. IA futura somenteleitura, semautorizaçãotransacional. Fontes:docs/EXECUTIVE_BRIEF.md;docs/OBSERVABILIDADE_E_VALOR.md;docs/OPERACAO_ENTERPRISE.md.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685375aff4c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573ce3f12f4c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32fff105c44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389ef3caa40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8438cb13d40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dbb8efcdf43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21A8DD-2F26-4135-8634-FDD27B495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DE2AE2-7FAB-4CE1-AC8D-55C752041B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3F8012-1503-48E0-8004-653E291E3C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8E977B-B613-4693-BA4B-96C66FBD7F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C2BB10-3F9F-4615-8B89-DB1457794C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0779CA-65BD-4C52-92E6-BB89AD1BA8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AC2CC9-884E-4A84-99FB-DFF40FD1FD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A8901E-37BD-4EB5-B46F-62CBBC0664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EBC10C-9A2B-468C-A120-56957DBE91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7444B0-D583-4EC8-84A8-A3B24C6516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346993cce64dab" /><Relationship Type="http://schemas.openxmlformats.org/officeDocument/2006/relationships/slideLayout" Target="/ppt/slideLayouts/slideLayout1.xml" Id="R75163cc17fed46f1" /><Relationship Type="http://schemas.openxmlformats.org/officeDocument/2006/relationships/slideLayout" Target="/ppt/slideLayouts/slideLayout2.xml" Id="Rfc7c81f928a545ae" /><Relationship Type="http://schemas.openxmlformats.org/officeDocument/2006/relationships/slideLayout" Target="/ppt/slideLayouts/slideLayout3.xml" Id="R16e7b08dfb1b4bfc" /><Relationship Type="http://schemas.openxmlformats.org/officeDocument/2006/relationships/slideLayout" Target="/ppt/slideLayouts/slideLayout4.xml" Id="R867594368a804db0" /><Relationship Type="http://schemas.openxmlformats.org/officeDocument/2006/relationships/slideLayout" Target="/ppt/slideLayouts/slideLayout5.xml" Id="R9930eebaa71643df" /><Relationship Type="http://schemas.openxmlformats.org/officeDocument/2006/relationships/slideLayout" Target="/ppt/slideLayouts/slideLayout6.xml" Id="R4ed3bf0477b74e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163cc17fed46f1"/>
    <p:sldLayoutId xmlns:r="http://schemas.openxmlformats.org/officeDocument/2006/relationships" id="2147483650" r:id="Rfc7c81f928a545ae"/>
    <p:sldLayoutId xmlns:r="http://schemas.openxmlformats.org/officeDocument/2006/relationships" id="2147483651" r:id="R16e7b08dfb1b4bfc"/>
    <p:sldLayoutId xmlns:r="http://schemas.openxmlformats.org/officeDocument/2006/relationships" id="2147483652" r:id="R867594368a804db0"/>
    <p:sldLayoutId xmlns:r="http://schemas.openxmlformats.org/officeDocument/2006/relationships" id="2147483653" r:id="R9930eebaa71643df"/>
    <p:sldLayoutId xmlns:r="http://schemas.openxmlformats.org/officeDocument/2006/relationships" id="2147483654" r:id="R4ed3bf0477b74e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OTM Guard">
      <a:dk1>
        <a:srgbClr val="000000"/>
      </a:dk1>
      <a:lt1>
        <a:srgbClr val="FFFFFF"/>
      </a:lt1>
      <a:dk2>
        <a:srgbClr val="173D35"/>
      </a:dk2>
      <a:lt2>
        <a:srgbClr val="F5F6F3"/>
      </a:lt2>
      <a:accent1>
        <a:srgbClr val="173D35"/>
      </a:accent1>
      <a:accent2>
        <a:srgbClr val="437F65"/>
      </a:accent2>
      <a:accent3>
        <a:srgbClr val="D8EAB3"/>
      </a:accent3>
      <a:accent4>
        <a:srgbClr val="7390A4"/>
      </a:accent4>
      <a:accent5>
        <a:srgbClr val="8E642B"/>
      </a:accent5>
      <a:accent6>
        <a:srgbClr val="A8BCA0"/>
      </a:accent6>
      <a:hlink>
        <a:srgbClr val="437F65"/>
      </a:hlink>
      <a:folHlink>
        <a:srgbClr val="437F65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TM Guar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50e2d886a45e2" /><Relationship Type="http://schemas.openxmlformats.org/officeDocument/2006/relationships/notesSlide" Target="/ppt/notesSlides/notesSlide1.xml" Id="Ra1a950ae082d4a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7105294e9142b7" /><Relationship Type="http://schemas.openxmlformats.org/officeDocument/2006/relationships/chart" Target="/ppt/slides/charts/chart1.xml" Id="Rd78fedb090f34f7b" /><Relationship Type="http://schemas.openxmlformats.org/officeDocument/2006/relationships/notesSlide" Target="/ppt/notesSlides/notesSlide2.xml" Id="Rceab317e798249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1cbffac4e84653" /><Relationship Type="http://schemas.openxmlformats.org/officeDocument/2006/relationships/image" Target="/ppt/media/image.png" Id="R9f6b8fd7fe7945bd" /><Relationship Type="http://schemas.openxmlformats.org/officeDocument/2006/relationships/notesSlide" Target="/ppt/notesSlides/notesSlide3.xml" Id="Rec0d9ef2425f4a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b9b96d215b48da" /><Relationship Type="http://schemas.openxmlformats.org/officeDocument/2006/relationships/image" Target="/ppt/media/image2.png" Id="Rbec9e4d803624917" /><Relationship Type="http://schemas.openxmlformats.org/officeDocument/2006/relationships/notesSlide" Target="/ppt/notesSlides/notesSlide4.xml" Id="R322b60e7483a4a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bc45dee0a9479e" /><Relationship Type="http://schemas.openxmlformats.org/officeDocument/2006/relationships/notesSlide" Target="/ppt/notesSlides/notesSlide5.xml" Id="Rfa858e6cc3284d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6efda16434fa5" /><Relationship Type="http://schemas.openxmlformats.org/officeDocument/2006/relationships/notesSlide" Target="/ppt/notesSlides/notesSlide6.xml" Id="R542eabfd97f249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1a4dc1c8c4386" /><Relationship Type="http://schemas.openxmlformats.org/officeDocument/2006/relationships/notesSlide" Target="/ppt/notesSlides/notesSlide7.xml" Id="R2b6b099d8f3c4f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ba48827504e24" /><Relationship Type="http://schemas.openxmlformats.org/officeDocument/2006/relationships/notesSlide" Target="/ppt/notesSlides/notesSlide8.xml" Id="Rdef98cc75eab479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Quantidade do lote (peças)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03B35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Peças</c:v>
          </c:tx>
          <c:spPr>
            <a:solidFill xmlns:a="http://schemas.openxmlformats.org/drawingml/2006/main">
              <a:srgbClr val="437F6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7390A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73D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BA879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OTM</c:v>
                </c:pt>
                <c:pt idx="1">
                  <c:v>strict</c:v>
                </c:pt>
                <c:pt idx="2">
                  <c:v>complete-kits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297</c:v>
                </c:pt>
                <c:pt idx="1">
                  <c:v>199</c:v>
                </c:pt>
                <c:pt idx="2">
                  <c:v>269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203B35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3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DC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80"/>
      </c:valAx>
      <c:spPr>
        <a:solidFill xmlns:a="http://schemas.openxmlformats.org/drawingml/2006/main">
          <a:srgbClr val="F5F6F3"/>
        </a:solidFill>
      </c:spPr>
    </c:plotArea>
    <c:plotVisOnly val="1"/>
  </c:chart>
  <c:spPr>
    <a:solidFill xmlns:a="http://schemas.openxmlformats.org/drawingml/2006/main">
      <a:srgbClr val="F5F6F3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73863B34-8B14-472A-9370-29C66DBA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75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75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75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75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75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75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75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75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75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75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D8EAB3"/>
                </a:solidFill>
                <a:latin typeface="DejaVu Sans"/>
                <a:ea typeface="DejaVu Sans"/>
                <a:cs typeface="DejaVu Sans"/>
              </a:rPr>
              <a:t>otm guard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5CF8449-5AA8-43CB-A9F4-7CAD5B0B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Cada quantidade,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uma evidência.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20B32B4-2643-4815-A808-19C4BCFD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052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D1E1D8"/>
                </a:solidFill>
                <a:latin typeface="DejaVu Sans"/>
                <a:ea typeface="DejaVu Sans"/>
                <a:cs typeface="DejaVu Sans"/>
              </a:rPr>
              <a:t>Conciliação pós-OTM com decisões determinísticas,</a:t>
            </a:r>
          </a:p>
          <a:p xmlns:a="http://schemas.openxmlformats.org/drawingml/2006/main">
            <a:pPr algn="l">
              <a:defRPr sz="2175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D1E1D8"/>
                </a:solidFill>
                <a:latin typeface="DejaVu Sans"/>
                <a:ea typeface="DejaVu Sans"/>
                <a:cs typeface="DejaVu Sans"/>
              </a:rPr>
              <a:t>conferência humana e rastreabilidade por item.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6217ECB0-D988-4C13-BA1D-6C9C8642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rPr>
              <a:t>Crizan Belém Ribeiro · AI Engineer — Operações &amp; Logística</a:t>
            </a:r>
          </a:p>
        </p:txBody>
      </p:sp>
      <p:sp>
        <p:nvSpPr>
          <p:cNvPr id="5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5ABF0262-FB71-456B-8806-537A7129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674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rPr>
              <a:t>Case demonstrativo · Sem vínculo com produto oficial · Sem homologação produtiva</a:t>
            </a:r>
          </a:p>
        </p:txBody>
      </p:sp>
    </p:spTree>
    <p:extLst>
      <p:ext uri="{BB962C8B-B14F-4D97-AF65-F5344CB8AC3E}">
        <p14:creationId xmlns:p14="http://schemas.microsoft.com/office/powerpoint/2010/main" val="2118946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5AF2223B-5E75-49A1-A358-C33B9A23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As mesmas entradas. Duas decisões comerciais.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51858CC4-6E2C-4F55-9962-EC831B54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OTM Guard · Crizan Belém Ribeiro · Case demonstrativo · 02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1D66CA0D-734F-4647-A80D-892A1196039C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65722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8fedb090f34f7b"/>
          </a:graphicData>
        </a:graphic>
      </p:graphicFrame>
      <p:sp>
        <p:nvSpPr>
          <p:cNvPr id="4" name="policy-heading">
            <a:extLst xmlns:a="http://schemas.openxmlformats.org/drawingml/2006/main">
              <a:ext uri="{FF2B5EF4-FFF2-40B4-BE49-F238E27FC236}">
                <a16:creationId xmlns:a16="http://schemas.microsoft.com/office/drawing/2014/main" id="{2E2BC1C8-2CA9-4253-BAEB-A6065F8F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8288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O que muda?</a:t>
            </a:r>
          </a:p>
        </p:txBody>
      </p:sp>
      <p:sp>
        <p:nvSpPr>
          <p:cNvPr id="5" name="policy-example">
            <a:extLst xmlns:a="http://schemas.openxmlformats.org/drawingml/2006/main">
              <a:ext uri="{FF2B5EF4-FFF2-40B4-BE49-F238E27FC236}">
                <a16:creationId xmlns:a16="http://schemas.microsoft.com/office/drawing/2014/main" id="{995860EF-54FE-4454-93D3-766F709D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486025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Combo 1:1 sugerido em 50:35</a:t>
            </a:r>
          </a:p>
        </p:txBody>
      </p:sp>
      <p:sp>
        <p:nvSpPr>
          <p:cNvPr id="6" name="strict-case">
            <a:extLst xmlns:a="http://schemas.openxmlformats.org/drawingml/2006/main">
              <a:ext uri="{FF2B5EF4-FFF2-40B4-BE49-F238E27FC236}">
                <a16:creationId xmlns:a16="http://schemas.microsoft.com/office/drawing/2014/main" id="{883BE120-2561-4ADF-8199-8900D1F3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3337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3D35"/>
                </a:solidFill>
                <a:latin typeface="DejaVu Sans"/>
                <a:ea typeface="DejaVu Sans"/>
                <a:cs typeface="DejaVu Sans"/>
              </a:rPr>
              <a:t>strict → 0:0</a:t>
            </a:r>
          </a:p>
        </p:txBody>
      </p:sp>
      <p:sp>
        <p:nvSpPr>
          <p:cNvPr id="7" name="alternative-case">
            <a:extLst xmlns:a="http://schemas.openxmlformats.org/drawingml/2006/main">
              <a:ext uri="{FF2B5EF4-FFF2-40B4-BE49-F238E27FC236}">
                <a16:creationId xmlns:a16="http://schemas.microsoft.com/office/drawing/2014/main" id="{AD540F20-A8A3-4DAD-BFBE-31FAD797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99097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37F65"/>
                </a:solidFill>
                <a:latin typeface="DejaVu Sans"/>
                <a:ea typeface="DejaVu Sans"/>
                <a:cs typeface="DejaVu Sans"/>
              </a:rPr>
              <a:t>complete-kits → 35:35</a:t>
            </a:r>
          </a:p>
        </p:txBody>
      </p:sp>
      <p:sp>
        <p:nvSpPr>
          <p:cNvPr id="8" name="policy-warning">
            <a:extLst xmlns:a="http://schemas.openxmlformats.org/drawingml/2006/main">
              <a:ext uri="{FF2B5EF4-FFF2-40B4-BE49-F238E27FC236}">
                <a16:creationId xmlns:a16="http://schemas.microsoft.com/office/drawing/2014/main" id="{127EC326-AEEB-4C3E-9E87-D1420138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972050"/>
            <a:ext cx="352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A operação precisa homologar o significado de “zerar se incompleto”.</a:t>
            </a:r>
          </a:p>
        </p:txBody>
      </p:sp>
      <p:sp>
        <p:nvSpPr>
          <p:cNvPr id="9" name="sample-note">
            <a:extLst xmlns:a="http://schemas.openxmlformats.org/drawingml/2006/main">
              <a:ext uri="{FF2B5EF4-FFF2-40B4-BE49-F238E27FC236}">
                <a16:creationId xmlns:a16="http://schemas.microsoft.com/office/drawing/2014/main" id="{1687271F-934A-442C-B092-884691D5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12 POIs preservados · 1 item em revisão · Nenhuma economia financeira alegada</a:t>
            </a:r>
          </a:p>
        </p:txBody>
      </p:sp>
    </p:spTree>
    <p:extLst>
      <p:ext uri="{BB962C8B-B14F-4D97-AF65-F5344CB8AC3E}">
        <p14:creationId xmlns:p14="http://schemas.microsoft.com/office/powerpoint/2010/main" val="19511181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47C09D2-57CA-415F-8970-02BDF31C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O cálculo é exato. A explicação é humana.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FA508D56-EAFA-4E1D-8605-E5F9E67F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OTM Guard · Crizan Belém Ribeiro · Case demonstrativo · 03</a:t>
            </a:r>
          </a:p>
        </p:txBody>
      </p:sp>
      <p:sp>
        <p:nvSpPr>
          <p:cNvPr id="3" name="math">
            <a:extLst xmlns:a="http://schemas.openxmlformats.org/drawingml/2006/main">
              <a:ext uri="{FF2B5EF4-FFF2-40B4-BE49-F238E27FC236}">
                <a16:creationId xmlns:a16="http://schemas.microsoft.com/office/drawing/2014/main" id="{DBC908E4-97E3-49F1-86B4-75B3EE62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173D35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173D35"/>
                </a:solidFill>
                <a:latin typeface="DejaVu Sans"/>
                <a:ea typeface="DejaVu Sans"/>
                <a:cs typeface="DejaVu Sans"/>
              </a:rPr>
              <a:t>110 → 108</a:t>
            </a:r>
          </a:p>
        </p:txBody>
      </p:sp>
      <p:sp>
        <p:nvSpPr>
          <p:cNvPr id="4" name="box-explanation">
            <a:extLst xmlns:a="http://schemas.openxmlformats.org/drawingml/2006/main">
              <a:ext uri="{FF2B5EF4-FFF2-40B4-BE49-F238E27FC236}">
                <a16:creationId xmlns:a16="http://schemas.microsoft.com/office/drawing/2014/main" id="{9D55CFA2-1BF9-4666-8DC7-2224D073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18 caixas de seis peças.</a:t>
            </a:r>
          </a:p>
          <a:p xmlns:a="http://schemas.openxmlformats.org/drawingml/2006/main">
            <a:pPr algn="l">
              <a:defRPr sz="2100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Sempre arredondar para baixo.</a:t>
            </a:r>
          </a:p>
        </p:txBody>
      </p:sp>
      <p:sp>
        <p:nvSpPr>
          <p:cNvPr id="5" name="constraints">
            <a:extLst xmlns:a="http://schemas.openxmlformats.org/drawingml/2006/main">
              <a:ext uri="{FF2B5EF4-FFF2-40B4-BE49-F238E27FC236}">
                <a16:creationId xmlns:a16="http://schemas.microsoft.com/office/drawing/2014/main" id="{C9397AF1-2219-48E9-8694-FD985891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Demanda + OTM + estoque</a:t>
            </a:r>
          </a:p>
          <a:p xmlns:a="http://schemas.openxmlformats.org/drawingml/2006/main">
            <a: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Proporção do kit + múltiplo da caixa</a:t>
            </a:r>
          </a:p>
        </p:txBody>
      </p:sp>
      <p:sp>
        <p:nvSpPr>
          <p:cNvPr id="6" name="deterministic">
            <a:extLst xmlns:a="http://schemas.openxmlformats.org/drawingml/2006/main">
              <a:ext uri="{FF2B5EF4-FFF2-40B4-BE49-F238E27FC236}">
                <a16:creationId xmlns:a16="http://schemas.microsoft.com/office/drawing/2014/main" id="{6A6B8494-EC36-444B-86FB-9A5B56E8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437F6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37F65"/>
                </a:solidFill>
                <a:latin typeface="DejaVu Sans"/>
                <a:ea typeface="DejaVu Sans"/>
                <a:cs typeface="DejaVu Sans"/>
              </a:rPr>
              <a:t>Motor determinístico como autoridade exclusiva.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5A6DB-6DCA-4764-8E2D-63405DD3E2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b8fd7fe7945bd"/>
          <a:srcRect xmlns:a="http://schemas.openxmlformats.org/drawingml/2006/main" l="64583" t="5000" r="0" b="32000"/>
          <a:stretch xmlns:a="http://schemas.openxmlformats.org/drawingml/2006/main"/>
        </p:blipFill>
        <p:spPr>
          <a:xfrm xmlns:a="http://schemas.openxmlformats.org/drawingml/2006/main">
            <a:off x="7381875" y="1476375"/>
            <a:ext cx="4095750" cy="459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967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7A8FC3BF-1398-45AE-B2E2-66B6EF2E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Uma fonte de dados para três perspectivas.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7F34D40A-F93C-48AF-8CD1-524C1650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OTM Guard · Crizan Belém Ribeiro · Case demonstrativo · 04</a:t>
            </a:r>
          </a:p>
        </p:txBody>
      </p:sp>
      <p:sp>
        <p:nvSpPr>
          <p:cNvPr id="3" name="executive">
            <a:extLst xmlns:a="http://schemas.openxmlformats.org/drawingml/2006/main">
              <a:ext uri="{FF2B5EF4-FFF2-40B4-BE49-F238E27FC236}">
                <a16:creationId xmlns:a16="http://schemas.microsoft.com/office/drawing/2014/main" id="{D4A2EA7D-5C16-4BB8-B86D-4D05A193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Gestão</a:t>
            </a:r>
          </a:p>
        </p:txBody>
      </p:sp>
      <p:sp>
        <p:nvSpPr>
          <p:cNvPr id="4" name="executive-body">
            <a:extLst xmlns:a="http://schemas.openxmlformats.org/drawingml/2006/main">
              <a:ext uri="{FF2B5EF4-FFF2-40B4-BE49-F238E27FC236}">
                <a16:creationId xmlns:a16="http://schemas.microsoft.com/office/drawing/2014/main" id="{ABA9B1F0-414E-40CC-8114-C7635784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Indicadores, riscos</a:t>
            </a:r>
          </a:p>
          <a:p xmlns:a="http://schemas.openxmlformats.org/drawingml/2006/main">
            <a: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e comparação de políticas.</a:t>
            </a:r>
          </a:p>
        </p:txBody>
      </p:sp>
      <p:sp>
        <p:nvSpPr>
          <p:cNvPr id="5" name="operations">
            <a:extLst xmlns:a="http://schemas.openxmlformats.org/drawingml/2006/main">
              <a:ext uri="{FF2B5EF4-FFF2-40B4-BE49-F238E27FC236}">
                <a16:creationId xmlns:a16="http://schemas.microsoft.com/office/drawing/2014/main" id="{00AB89EC-0774-4105-842E-EA752B28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Operação</a:t>
            </a:r>
          </a:p>
        </p:txBody>
      </p:sp>
      <p:sp>
        <p:nvSpPr>
          <p:cNvPr id="6" name="operations-body">
            <a:extLst xmlns:a="http://schemas.openxmlformats.org/drawingml/2006/main">
              <a:ext uri="{FF2B5EF4-FFF2-40B4-BE49-F238E27FC236}">
                <a16:creationId xmlns:a16="http://schemas.microsoft.com/office/drawing/2014/main" id="{984073FF-3A97-4964-99CA-C05F8C71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Fila de revisão, filtros</a:t>
            </a:r>
          </a:p>
          <a:p xmlns:a="http://schemas.openxmlformats.org/drawingml/2006/main">
            <a: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e evidência de cada POI.</a:t>
            </a:r>
          </a:p>
        </p:txBody>
      </p:sp>
      <p:sp>
        <p:nvSpPr>
          <p:cNvPr id="7" name="audit">
            <a:extLst xmlns:a="http://schemas.openxmlformats.org/drawingml/2006/main">
              <a:ext uri="{FF2B5EF4-FFF2-40B4-BE49-F238E27FC236}">
                <a16:creationId xmlns:a16="http://schemas.microsoft.com/office/drawing/2014/main" id="{A8D8EAB2-4AC7-4BC2-B4E3-EC4361DF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Auditoria</a:t>
            </a:r>
          </a:p>
        </p:txBody>
      </p:sp>
      <p:sp>
        <p:nvSpPr>
          <p:cNvPr id="8" name="audit-body">
            <a:extLst xmlns:a="http://schemas.openxmlformats.org/drawingml/2006/main">
              <a:ext uri="{FF2B5EF4-FFF2-40B4-BE49-F238E27FC236}">
                <a16:creationId xmlns:a16="http://schemas.microsoft.com/office/drawing/2014/main" id="{BAFD9800-BEC9-4D4B-8934-A6BADF87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Invariantes, hashes,</a:t>
            </a:r>
          </a:p>
          <a:p xmlns:a="http://schemas.openxmlformats.org/drawingml/2006/main">
            <a:pPr algn="l">
              <a:def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eventos e exportação.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4954E-488C-48AB-B957-C949AA06C3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9e4d803624917"/>
          <a:srcRect xmlns:a="http://schemas.openxmlformats.org/drawingml/2006/main" l="16944" t="7519" r="0" b="34702"/>
          <a:stretch xmlns:a="http://schemas.openxmlformats.org/drawingml/2006/main"/>
        </p:blipFill>
        <p:spPr>
          <a:xfrm xmlns:a="http://schemas.openxmlformats.org/drawingml/2006/main">
            <a:off x="4229100" y="1438275"/>
            <a:ext cx="73533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07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1D8F0-693F-43FD-9A8A-FC780C5E9D8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77100" y="2447925"/>
            <a:ext cx="1143000" cy="2286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37F65"/>
            </a:solidFill>
            <a:prstDash val="dash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93A15-40D8-4F4B-B2A6-13C2BD4C78EF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277100" y="2447925"/>
            <a:ext cx="1143000" cy="2286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37F65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7BE90-A6A9-42F8-A9A9-93A49859312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991725" y="2943225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7F65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896FC-EE8B-4D78-BFEC-8E4EC5891AB3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5705475" y="2943225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7F65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468D6-8F41-4E34-84CB-8D48E685814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277100" y="24479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7F65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10EE6-D18B-477E-B7E6-F5A0EF93ACC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90850" y="24479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7F65"/>
            </a:solidFill>
            <a:prstDash val="solid"/>
            <a:tailEnd type="arrow" w="med" len="med"/>
          </a:ln>
        </p:spPr>
      </p:cxnSp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D79BE209-4FA7-4C78-ABF2-B693BCB3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GCP preparado. Implantação ainda não validada.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B26E15A4-DEAD-4747-ADEC-6AA24315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OTM Guard · Crizan Belém Ribeiro · Case demonstrativo · 05</a:t>
            </a:r>
          </a:p>
        </p:txBody>
      </p:sp>
      <p:sp>
        <p:nvSpPr>
          <p:cNvPr id="3" name="iap">
            <a:extLst xmlns:a="http://schemas.openxmlformats.org/drawingml/2006/main">
              <a:ext uri="{FF2B5EF4-FFF2-40B4-BE49-F238E27FC236}">
                <a16:creationId xmlns:a16="http://schemas.microsoft.com/office/drawing/2014/main" id="{54922300-D5F4-4B6B-93FF-81D66781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7F65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IAP</a:t>
            </a:r>
          </a:p>
          <a:p xmlns:a="http://schemas.openxmlformats.org/drawingml/2006/main">
            <a: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Identidade</a:t>
            </a:r>
          </a:p>
        </p:txBody>
      </p:sp>
      <p:sp>
        <p:nvSpPr>
          <p:cNvPr id="4" name="api">
            <a:extLst xmlns:a="http://schemas.openxmlformats.org/drawingml/2006/main">
              <a:ext uri="{FF2B5EF4-FFF2-40B4-BE49-F238E27FC236}">
                <a16:creationId xmlns:a16="http://schemas.microsoft.com/office/drawing/2014/main" id="{C20E5A1A-589D-4556-BC36-3435D3F7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52625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7F65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Cloud Run</a:t>
            </a:r>
          </a:p>
          <a:p xmlns:a="http://schemas.openxmlformats.org/drawingml/2006/main">
            <a: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React + FastAPI</a:t>
            </a:r>
          </a:p>
        </p:txBody>
      </p:sp>
      <p:sp>
        <p:nvSpPr>
          <p:cNvPr id="5" name="job">
            <a:extLst xmlns:a="http://schemas.openxmlformats.org/drawingml/2006/main">
              <a:ext uri="{FF2B5EF4-FFF2-40B4-BE49-F238E27FC236}">
                <a16:creationId xmlns:a16="http://schemas.microsoft.com/office/drawing/2014/main" id="{06ECCDF6-042D-47E5-839D-5EBB5318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52625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7F65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Cloud Run Jobs</a:t>
            </a:r>
          </a:p>
          <a:p xmlns:a="http://schemas.openxmlformats.org/drawingml/2006/main">
            <a: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Motor + verificador</a:t>
            </a:r>
          </a:p>
        </p:txBody>
      </p:sp>
      <p:sp>
        <p:nvSpPr>
          <p:cNvPr id="6" name="sql">
            <a:extLst xmlns:a="http://schemas.openxmlformats.org/drawingml/2006/main">
              <a:ext uri="{FF2B5EF4-FFF2-40B4-BE49-F238E27FC236}">
                <a16:creationId xmlns:a16="http://schemas.microsoft.com/office/drawing/2014/main" id="{78C2CD84-67B8-4DD8-A466-B740C6C0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38625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7F65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Cloud SQL</a:t>
            </a:r>
          </a:p>
          <a:p xmlns:a="http://schemas.openxmlformats.org/drawingml/2006/main">
            <a: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Estados e consultas</a:t>
            </a:r>
          </a:p>
        </p:txBody>
      </p:sp>
      <p:sp>
        <p:nvSpPr>
          <p:cNvPr id="7" name="gcs">
            <a:extLst xmlns:a="http://schemas.openxmlformats.org/drawingml/2006/main">
              <a:ext uri="{FF2B5EF4-FFF2-40B4-BE49-F238E27FC236}">
                <a16:creationId xmlns:a16="http://schemas.microsoft.com/office/drawing/2014/main" id="{98C5796C-69A3-4536-A540-4DF5AE29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38625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7F65"/>
            </a:solidFill>
            <a:prstDash val="solid"/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Cloud Storage</a:t>
            </a:r>
          </a:p>
          <a:p xmlns:a="http://schemas.openxmlformats.org/drawingml/2006/main">
            <a:pPr algn="ctr">
              <a:def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Entradas e evidências</a:t>
            </a:r>
          </a:p>
        </p:txBody>
      </p:sp>
      <p:sp>
        <p:nvSpPr>
          <p:cNvPr id="14" name="integrity-note">
            <a:extLst xmlns:a="http://schemas.openxmlformats.org/drawingml/2006/main">
              <a:ext uri="{FF2B5EF4-FFF2-40B4-BE49-F238E27FC236}">
                <a16:creationId xmlns:a16="http://schemas.microsoft.com/office/drawing/2014/main" id="{B4F909A4-3759-4FA9-B3B6-09FFD19A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IAM mínimo · Objetos imutáveis · Idempotência · Tentativas limitadas</a:t>
            </a:r>
          </a:p>
        </p:txBody>
      </p:sp>
    </p:spTree>
    <p:extLst>
      <p:ext uri="{BB962C8B-B14F-4D97-AF65-F5344CB8AC3E}">
        <p14:creationId xmlns:p14="http://schemas.microsoft.com/office/powerpoint/2010/main" val="5349883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F2B927B-123A-4FE1-B78B-6BACD6B7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Evidência medida, com fronteiras explícitas.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B7A91A03-26CE-4591-ADA5-751E6F28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OTM Guard · Crizan Belém Ribeiro · Case demonstrativo · 06</a:t>
            </a:r>
          </a:p>
        </p:txBody>
      </p:sp>
      <p:graphicFrame>
        <p:nvGraphicFramePr>
          <p:cNvPr id="3" name="benchmark">
            <a:extLst xmlns:a="http://schemas.openxmlformats.org/drawingml/2006/main">
              <a:ext uri="{FF2B5EF4-FFF2-40B4-BE49-F238E27FC236}">
                <a16:creationId xmlns:a16="http://schemas.microsoft.com/office/drawing/2014/main" id="{B1B4327A-E26E-4F25-AD8A-254CAC66FB9F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305050"/>
                <a:gridCol w="2857500"/>
                <a:gridCol w="2476500"/>
              </a:tblGrid>
              <a:tr h="6210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POIs sintéticos</a:t>
                      </a:r>
                    </a:p>
                  </a:txBody>
                  <a:tcPr marL="152400" marR="152400" marT="133350" marB="133350">
                    <a:lnL w="9525">
                      <a:solidFill>
                        <a:srgbClr val="DDE5DC"/>
                      </a:solidFill>
                      <a:prstDash val="solid"/>
                    </a:lnL>
                    <a:lnR w="9525">
                      <a:solidFill>
                        <a:srgbClr val="DDE5DC"/>
                      </a:solidFill>
                      <a:prstDash val="solid"/>
                    </a:lnR>
                    <a:lnT w="9525">
                      <a:solidFill>
                        <a:srgbClr val="DDE5DC"/>
                      </a:solidFill>
                      <a:prstDash val="solid"/>
                    </a:lnT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17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 local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T w="9525">
                      <a:solidFill>
                        <a:srgbClr val="DDE5DC"/>
                      </a:solidFill>
                      <a:prstDash val="solid"/>
                    </a:lnT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17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Pico RSS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T w="9525">
                      <a:solidFill>
                        <a:srgbClr val="DDE5DC"/>
                      </a:solidFill>
                      <a:prstDash val="solid"/>
                    </a:lnT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17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Invariantes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T w="9525">
                      <a:solidFill>
                        <a:srgbClr val="DDE5DC"/>
                      </a:solidFill>
                      <a:prstDash val="solid"/>
                    </a:lnT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173D35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mil</a:t>
                      </a:r>
                    </a:p>
                  </a:txBody>
                  <a:tcPr marL="152400" marR="152400" marT="133350" marB="133350">
                    <a:lnL w="9525">
                      <a:solidFill>
                        <a:srgbClr val="DDE5DC"/>
                      </a:solidFill>
                      <a:prstDash val="solid"/>
                    </a:lnL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1,31 s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50,65 MiB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10/10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 mil</a:t>
                      </a:r>
                    </a:p>
                  </a:txBody>
                  <a:tcPr marL="152400" marR="152400" marT="133350" marB="133350">
                    <a:lnL w="9525">
                      <a:solidFill>
                        <a:srgbClr val="DDE5DC"/>
                      </a:solidFill>
                      <a:prstDash val="solid"/>
                    </a:lnL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14,93 s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182,86 MiB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10/10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500 mil</a:t>
                      </a:r>
                    </a:p>
                  </a:txBody>
                  <a:tcPr marL="152400" marR="152400" marT="133350" marB="133350">
                    <a:lnL w="9525">
                      <a:solidFill>
                        <a:srgbClr val="DDE5DC"/>
                      </a:solidFill>
                      <a:prstDash val="solid"/>
                    </a:lnL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71,15 s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751,61 MiB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10/10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milhão</a:t>
                      </a:r>
                    </a:p>
                  </a:txBody>
                  <a:tcPr marL="152400" marR="152400" marT="133350" marB="133350">
                    <a:lnL w="9525">
                      <a:solidFill>
                        <a:srgbClr val="DDE5DC"/>
                      </a:solidFill>
                      <a:prstDash val="solid"/>
                    </a:lnL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152,31 s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1.456,53 MiB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10/10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verage-note">
            <a:extLst xmlns:a="http://schemas.openxmlformats.org/drawingml/2006/main">
              <a:ext uri="{FF2B5EF4-FFF2-40B4-BE49-F238E27FC236}">
                <a16:creationId xmlns:a16="http://schemas.microsoft.com/office/drawing/2014/main" id="{9F3A6E30-DF03-4DBD-8301-CC00412C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Regressões, propriedades, integração, permissões,</a:t>
            </a:r>
          </a:p>
          <a:p xmlns:a="http://schemas.openxmlformats.org/drawingml/2006/main">
            <a:pPr algn="l">
              <a:defRPr sz="1875" b="0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integridade, acessibilidade automatizada e container em CI.</a:t>
            </a:r>
          </a:p>
        </p:txBody>
      </p:sp>
      <p:sp>
        <p:nvSpPr>
          <p:cNvPr id="5" name="measurement-limit">
            <a:extLst xmlns:a="http://schemas.openxmlformats.org/drawingml/2006/main">
              <a:ext uri="{FF2B5EF4-FFF2-40B4-BE49-F238E27FC236}">
                <a16:creationId xmlns:a16="http://schemas.microsoft.com/office/drawing/2014/main" id="{3C9C3878-B48D-4701-890F-E260D31C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Fluxo local com SQLite. Sem rede GCP ou carga de usuários. Não é SLA produtivo.</a:t>
            </a:r>
          </a:p>
        </p:txBody>
      </p:sp>
    </p:spTree>
    <p:extLst>
      <p:ext uri="{BB962C8B-B14F-4D97-AF65-F5344CB8AC3E}">
        <p14:creationId xmlns:p14="http://schemas.microsoft.com/office/powerpoint/2010/main" val="18985472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9D1FB07-0C11-47F6-B883-8E6883A0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03B35"/>
                </a:solidFill>
                <a:latin typeface="DejaVu Sans"/>
                <a:ea typeface="DejaVu Sans"/>
                <a:cs typeface="DejaVu Sans"/>
              </a:rPr>
              <a:t>O próximo passo é homologar as fronteiras.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6DE59559-7E4E-459C-A699-70DB575E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OTM Guard · Crizan Belém Ribeiro · Case demonstrativo · 07</a:t>
            </a:r>
          </a:p>
        </p:txBody>
      </p:sp>
      <p:graphicFrame>
        <p:nvGraphicFramePr>
          <p:cNvPr id="3" name="acceptance">
            <a:extLst xmlns:a="http://schemas.openxmlformats.org/drawingml/2006/main">
              <a:ext uri="{FF2B5EF4-FFF2-40B4-BE49-F238E27FC236}">
                <a16:creationId xmlns:a16="http://schemas.microsoft.com/office/drawing/2014/main" id="{D38D89AD-E35C-4000-99E8-2E8193840C3F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5286375"/>
                <a:gridCol w="2781300"/>
              </a:tblGrid>
              <a:tr h="69723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Fronteira</a:t>
                      </a:r>
                    </a:p>
                  </a:txBody>
                  <a:tcPr marL="152400" marR="152400" marT="133350" marB="133350">
                    <a:lnL w="9525">
                      <a:solidFill>
                        <a:srgbClr val="DDE5DC"/>
                      </a:solidFill>
                      <a:prstDash val="solid"/>
                    </a:lnL>
                    <a:lnR w="9525">
                      <a:solidFill>
                        <a:srgbClr val="DDE5DC"/>
                      </a:solidFill>
                      <a:prstDash val="solid"/>
                    </a:lnR>
                    <a:lnT w="9525">
                      <a:solidFill>
                        <a:srgbClr val="DDE5DC"/>
                      </a:solidFill>
                      <a:prstDash val="solid"/>
                    </a:lnT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17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Critério de aceite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T w="9525">
                      <a:solidFill>
                        <a:srgbClr val="DDE5DC"/>
                      </a:solidFill>
                      <a:prstDash val="solid"/>
                    </a:lnT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17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Responsável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T w="9525">
                      <a:solidFill>
                        <a:srgbClr val="DDE5DC"/>
                      </a:solidFill>
                      <a:prstDash val="solid"/>
                    </a:lnT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173D35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Política comercial</a:t>
                      </a:r>
                    </a:p>
                  </a:txBody>
                  <a:tcPr marL="152400" marR="152400" marT="133350" marB="133350">
                    <a:lnL w="9525">
                      <a:solidFill>
                        <a:srgbClr val="DDE5DC"/>
                      </a:solidFill>
                      <a:prstDash val="solid"/>
                    </a:lnL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Strict × kits completos; prioridade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Comercial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Dados e fotografia</a:t>
                      </a:r>
                    </a:p>
                  </a:txBody>
                  <a:tcPr marL="152400" marR="152400" marT="133350" marB="133350">
                    <a:lnL w="9525">
                      <a:solidFill>
                        <a:srgbClr val="DDE5DC"/>
                      </a:solidFill>
                      <a:prstDash val="solid"/>
                    </a:lnL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Instância do combo; data e versão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OMS / cadastros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Integração transacional</a:t>
                      </a:r>
                    </a:p>
                  </a:txBody>
                  <a:tcPr marL="152400" marR="152400" marT="133350" marB="133350">
                    <a:lnL w="9525">
                      <a:solidFill>
                        <a:srgbClr val="DDE5DC"/>
                      </a:solidFill>
                      <a:prstDash val="solid"/>
                    </a:lnL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Reserva, concorrência e idempotência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OMS / WMS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Operação em GCP</a:t>
                      </a:r>
                    </a:p>
                  </a:txBody>
                  <a:tcPr marL="152400" marR="152400" marT="133350" marB="133350">
                    <a:lnL w="9525">
                      <a:solidFill>
                        <a:srgbClr val="DDE5DC"/>
                      </a:solidFill>
                      <a:prstDash val="solid"/>
                    </a:lnL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Identidade, carga, restore e rollback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B3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Engenharia / SRE</a:t>
                      </a:r>
                    </a:p>
                  </a:txBody>
                  <a:tcPr marL="152400" marR="152400" marT="133350" marB="133350">
                    <a:lnR w="9525">
                      <a:solidFill>
                        <a:srgbClr val="DDE5DC"/>
                      </a:solidFill>
                      <a:prstDash val="solid"/>
                    </a:lnR>
                    <a:lnB w="9525">
                      <a:solidFill>
                        <a:srgbClr val="DDE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pproval-warning">
            <a:extLst xmlns:a="http://schemas.openxmlformats.org/drawingml/2006/main">
              <a:ext uri="{FF2B5EF4-FFF2-40B4-BE49-F238E27FC236}">
                <a16:creationId xmlns:a16="http://schemas.microsoft.com/office/drawing/2014/main" id="{861C3C86-D135-4616-8D93-BD47FB0A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Aprovação das dez invariantes verifica a proposta.</a:t>
            </a:r>
          </a:p>
          <a:p xmlns:a="http://schemas.openxmlformats.org/drawingml/2006/main">
            <a:pPr algn="l">
              <a:def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B6A60"/>
                </a:solidFill>
                <a:latin typeface="DejaVu Sans"/>
                <a:ea typeface="DejaVu Sans"/>
                <a:cs typeface="DejaVu Sans"/>
              </a:rPr>
              <a:t>A liberação operacional depende de regras e contratos homologados.</a:t>
            </a:r>
          </a:p>
        </p:txBody>
      </p:sp>
    </p:spTree>
    <p:extLst>
      <p:ext uri="{BB962C8B-B14F-4D97-AF65-F5344CB8AC3E}">
        <p14:creationId xmlns:p14="http://schemas.microsoft.com/office/powerpoint/2010/main" val="7199896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33897348-8105-49C5-9978-FADD6BBA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8585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Adoção com evidência,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promessa com medida.</a:t>
            </a:r>
          </a:p>
        </p:txBody>
      </p:sp>
      <p:sp>
        <p:nvSpPr>
          <p:cNvPr id="2" name="step-0">
            <a:extLst xmlns:a="http://schemas.openxmlformats.org/drawingml/2006/main">
              <a:ext uri="{FF2B5EF4-FFF2-40B4-BE49-F238E27FC236}">
                <a16:creationId xmlns:a16="http://schemas.microsoft.com/office/drawing/2014/main" id="{64E29959-4A69-4AE0-98DF-79A460F1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8B3B5F0B-34D8-4F0A-B23A-D96A2660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Homologar regras</a:t>
            </a:r>
          </a:p>
        </p:txBody>
      </p:sp>
      <p:sp>
        <p:nvSpPr>
          <p:cNvPr id="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4A634FFC-8DA4-4B1A-BE73-2E614263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76525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rPr>
              <a:t>Acordar política, instâncias e snapshot.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992035FB-26CE-481E-A235-64E73E2C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BE35B28B-69C2-475D-86D8-5C962931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4807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Operar em sombra</a:t>
            </a:r>
          </a:p>
        </p:txBody>
      </p:sp>
      <p:sp>
        <p:nvSpPr>
          <p:cNvPr id="7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9CD7E42-DA60-4779-89C0-D1F1ED21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rPr>
              <a:t>Conferir divergências sem escrever no core.</a:t>
            </a:r>
          </a:p>
        </p:txBody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12FB6E2E-47BA-4761-AC73-DD87265A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D8EAB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9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1B724273-F2E7-454F-A8FB-1A6D2DA7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Medir valor e expandir</a:t>
            </a:r>
          </a:p>
        </p:txBody>
      </p:sp>
      <p:sp>
        <p:nvSpPr>
          <p:cNvPr id="10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33CD706-DFAB-40FF-ACE5-4B0D5381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1E1D8"/>
                </a:solidFill>
                <a:latin typeface="DejaVu Sans"/>
                <a:ea typeface="DejaVu Sans"/>
                <a:cs typeface="DejaVu Sans"/>
              </a:rPr>
              <a:t>Tempo manual, qualidade e custo por lote.</a:t>
            </a:r>
          </a:p>
        </p:txBody>
      </p:sp>
      <p:sp>
        <p:nvSpPr>
          <p:cNvPr id="11" name="closing-link">
            <a:extLst xmlns:a="http://schemas.openxmlformats.org/drawingml/2006/main">
              <a:ext uri="{FF2B5EF4-FFF2-40B4-BE49-F238E27FC236}">
                <a16:creationId xmlns:a16="http://schemas.microsoft.com/office/drawing/2014/main" id="{53E82056-3A28-4AF6-9E47-8B264E9C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8EAB3"/>
                </a:solidFill>
                <a:latin typeface="DejaVu Sans"/>
                <a:ea typeface="DejaVu Sans"/>
                <a:cs typeface="DejaVu Sans"/>
              </a:rPr>
              <a:t>github.com/belemcrizan/Case_boticario</a:t>
            </a:r>
          </a:p>
        </p:txBody>
      </p:sp>
      <p:sp>
        <p:nvSpPr>
          <p:cNvPr id="12" name="closing-status">
            <a:extLst xmlns:a="http://schemas.openxmlformats.org/drawingml/2006/main">
              <a:ext uri="{FF2B5EF4-FFF2-40B4-BE49-F238E27FC236}">
                <a16:creationId xmlns:a16="http://schemas.microsoft.com/office/drawing/2014/main" id="{689E43F7-A12E-4A5B-9B7C-484E14E1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6CCBE"/>
                </a:solidFill>
                <a:latin typeface="DejaVu Sans"/>
                <a:ea typeface="DejaVu Sans"/>
                <a:cs typeface="DejaVu Sans"/>
              </a:rPr>
              <a:t>Implementado e verificável · Sem deploy GCP · Sem homologação produtiva</a:t>
            </a:r>
          </a:p>
        </p:txBody>
      </p:sp>
    </p:spTree>
    <p:extLst>
      <p:ext uri="{BB962C8B-B14F-4D97-AF65-F5344CB8AC3E}">
        <p14:creationId xmlns:p14="http://schemas.microsoft.com/office/powerpoint/2010/main" val="1135295280"/>
      </p:ext>
    </p:extLst>
  </p:cSld>
</p:sld>
</file>

<file path=ppt/theme/theme1.xml><?xml version="1.0" encoding="utf-8"?>
<a:theme xmlns:a="http://schemas.openxmlformats.org/drawingml/2006/main" name="ChatGPT">
  <a:themeElements>
    <a:clrScheme name="OTM Guard">
      <a:dk1>
        <a:srgbClr val="000000"/>
      </a:dk1>
      <a:lt1>
        <a:srgbClr val="FFFFFF"/>
      </a:lt1>
      <a:dk2>
        <a:srgbClr val="173D35"/>
      </a:dk2>
      <a:lt2>
        <a:srgbClr val="F5F6F3"/>
      </a:lt2>
      <a:accent1>
        <a:srgbClr val="173D35"/>
      </a:accent1>
      <a:accent2>
        <a:srgbClr val="437F65"/>
      </a:accent2>
      <a:accent3>
        <a:srgbClr val="D8EAB3"/>
      </a:accent3>
      <a:accent4>
        <a:srgbClr val="7390A4"/>
      </a:accent4>
      <a:accent5>
        <a:srgbClr val="8E642B"/>
      </a:accent5>
      <a:accent6>
        <a:srgbClr val="A8BCA0"/>
      </a:accent6>
      <a:hlink>
        <a:srgbClr val="437F65"/>
      </a:hlink>
      <a:folHlink>
        <a:srgbClr val="437F65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TM Guar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2026-10-29T15:56:55.5650000Z</dcterms:created>
  <dcterms:modified xsi:type="dcterms:W3CDTF">2026-10-29T15:56:55.5650000Z</dcterms:modified>
</coreProperties>
</file>